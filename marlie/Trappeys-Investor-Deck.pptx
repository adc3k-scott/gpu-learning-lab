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7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5.05</c:v>
                </c:pt>
                <c:pt idx="1">
                  <c:v>6.56</c:v>
                </c:pt>
                <c:pt idx="2">
                  <c:v>7.57</c:v>
                </c:pt>
                <c:pt idx="3">
                  <c:v>8.07</c:v>
                </c:pt>
                <c:pt idx="4">
                  <c:v>8.07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2.25</c:v>
                </c:pt>
                <c:pt idx="1">
                  <c:v>3.56</c:v>
                </c:pt>
                <c:pt idx="2">
                  <c:v>4.37</c:v>
                </c:pt>
                <c:pt idx="3">
                  <c:v>4.77</c:v>
                </c:pt>
                <c:pt idx="4">
                  <c:v>4.67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A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A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 Value ($M)</c:v>
                </c:pt>
              </c:strCache>
            </c:strRef>
          </c:tx>
          <c:spPr>
            <a:solidFill>
              <a:srgbClr val="E87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Act 730
Sales Tax</c:v>
                  </c:pt>
                  <c:pt idx="1">
                    <c:v>Federal
Historic</c:v>
                  </c:pt>
                  <c:pt idx="2">
                    <c:v>State
Historic</c:v>
                  </c:pt>
                  <c:pt idx="3">
                    <c:v>ITEP
Property</c:v>
                  </c:pt>
                  <c:pt idx="4">
                    <c:v>Quality
Jobs</c:v>
                  </c:pt>
                  <c:pt idx="5">
                    <c:v>Brownfield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3.5</c:v>
                </c:pt>
                <c:pt idx="2">
                  <c:v>4.25</c:v>
                </c:pt>
                <c:pt idx="3">
                  <c:v>5.5</c:v>
                </c:pt>
                <c:pt idx="4">
                  <c:v>2.25</c:v>
                </c:pt>
                <c:pt idx="5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8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TRAPPEY'S CANNERY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River-Cooled AI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Campus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Containerized GPU Infrastructure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Lafayette, Louisiana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Design Construction Inc.  •  Confidential  •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Demand Outstrips Supply.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Can't Keep Up.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GPU demand remains unmet globally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wait months for compute allocation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228600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traditional data center construction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AI model development moves in weeks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 PUE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Coast air cooling is even worse — PUE 1.6+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56616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$2-3M/yr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292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cost per MW in hot climates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operating expense after electricity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AI Pods + River Cooling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90 Days to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4864" cy="548640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Container Pods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20-ft ISO containers as standardized compute units. Deploy in 90 days. Scale by adding pods.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54864" cy="548640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Vermilion River Cooling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heat sink delivers PUE of 1.08–1.12 year-round. 60–70% cooling cost reduction.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54864" cy="548640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GPU-as-a-Service Revenue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GB200/GB300 NVL72 racks at $4–8/GPU-hr. 288+ GPUs in Phase 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389120"/>
            <a:ext cx="54864" cy="548640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389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$24–44M Tax Incentive Stack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4389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827 + historic credits + ITEP + Quality Jobs. 12–22% effective project discount.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COMPETITIVE ADVANTAGES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Unreplicable Moat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Cooling Moat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1.08–1.12 vs 1.58 industry avg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Deployment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212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12–24 months traditional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8712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$24–44M Tax Stack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8712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 827 + historic + ITEP + QJ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2958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Infrastructure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5295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acres, 177K SF, utilities in place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879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187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kW to 2 MW without redesign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Trappey's Cannery — Lafayette, Louisiana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Acres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frontage + industrial zoning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73736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177,000 SF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Metal-clad warehouses (ready for pods)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Vermilion River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heat sink for cooling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Utility Feed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 + SLEMCO available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stub for generators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74904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90 Access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truck/container delivery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PLATFORM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Blackwell — The AI Standard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28016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Power/Rack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Revenue/Rack/Mo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GB200 NVL72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GPUs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120–132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ExaFLOPS FP4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$150K–$250K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GB300 NVL72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GPUs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132–140 kW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ExaFLOPS FP4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$200K–$350K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Direct-to-chip liquid cooling mandatory. River heat rejection primary. Dry coolers backup.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356616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Direct-to-chip + Vermilion River HX + dry cooler backup. PUE 1.08–1.12.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88920" y="356616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Safety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2608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VESDA aspiration detection + FK-5-1-12 clean agent suppression. Full NFPA 2001.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320" y="356616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834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8348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480V 3φ + Starline T5 busway spine + LFP UPS + N+1 gas generators.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03720" y="356616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40880" y="3977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Mission Control + Grafana/InfluxDB monitoring + Kubernetes orchestration.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4x GB200 NVL72 (288 GPUs)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21792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$15–18M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8952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IRR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(5-yr)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yr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8952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Payback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8952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EBITDA Margin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0" y="3474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Incentive Value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1792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8952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INCENTIVE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$24–44M in Combined Incentives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5544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55448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year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sales/use tax rebate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combined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tax credits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property tax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abatement (10 years)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PATHWAY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Proof of Concept to AI Factory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1920240" cy="54864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GPUs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$1.5M/yr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Tier A pod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serving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6459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645920"/>
            <a:ext cx="1920240" cy="54864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GPUs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$6.5M/yr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474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NVL72 racks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+ inference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cooling online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45920"/>
            <a:ext cx="1920240" cy="54864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MW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9204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GPUs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$13M/yr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474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NVL72 racks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ops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employees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64592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645920"/>
            <a:ext cx="1920240" cy="54864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MW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4088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GPUs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$25M+/yr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4747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campus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GB300/Vera Rubin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AI factory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87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$15–18M Phase 1 Investment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$1.5–2.9M  •  GPU Hardware: $12–16M  •  Working Capital: $1–2M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IRR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target (base case)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yr payback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tax incentives: 2.5 years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$20M EBITDA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cumulative (base case)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margins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EBITDA margin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Design Construction Inc.  •  Lafayette, Louisiana  •  Confidential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Trappey's AI Data Center — Investor Presentation</dc:title>
  <dc:subject>PptxGenJS Presentation</dc:subject>
  <dc:creator>Advantage Design Construction Inc.</dc:creator>
  <cp:lastModifiedBy>Advantage Design Construction Inc.</cp:lastModifiedBy>
  <cp:revision>1</cp:revision>
  <dcterms:created xsi:type="dcterms:W3CDTF">2026-02-27T02:21:04Z</dcterms:created>
  <dcterms:modified xsi:type="dcterms:W3CDTF">2026-02-27T02:21:04Z</dcterms:modified>
</cp:coreProperties>
</file>